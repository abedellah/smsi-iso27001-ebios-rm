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SMSI ISO/IEC 27001 + EBIOS 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7D6EC"/>
                </a:solidFill>
                <a:latin typeface="Calibri"/>
              </a:rPr>
              <a:t>Restitution — CelerPay, établissement de paiement (cas entièrement fictif)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FB4D6"/>
                </a:solidFill>
                <a:latin typeface="Calibri"/>
              </a:rPr>
              <a:t>Mohamed Abdellah Lagrini · Projet personnel de démonstration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Contexte et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Comment cette étude a été construite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Le cas</a:t>
            </a:r>
          </a:p>
          <a:p>
            <a:pPr algn="l">
              <a:spcAft>
                <a:spcPts val="14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CelerPay : établissement de paiement fictif agréé ACPR, Paris + centre technique à Casablanca. Imaginé pour ce projet, pour montrer une étude EBIOS RM + ISO 27001 complète sur un cas riche en enjeux réels (données bancaires, fraude, réglementation).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Ce que ce travail construit</a:t>
            </a:r>
          </a:p>
          <a:p>
            <a:pPr algn="l">
              <a:spcAft>
                <a:spcPts val="14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Les 5 ateliers EBIOS RM, l'évaluation complète du socle de 42 règles, et toute la couche ISO/IEC 27001 : politique, SoA des 93 mesures, audit interne, revue de direction.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92A2A"/>
                </a:solidFill>
                <a:latin typeface="Calibri"/>
              </a:rPr>
              <a:t>Ce que ce n'est pas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Un cas entièrement fictif, étudié seul (pas en atelier), aucune certification, aucune entreprise réelle.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Méthode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1 · Cadrage et socle de sécurité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2 · Sources de risque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3 · Scénarios stratégiques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4 · Scénarios opérationnels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5 · Traitement du risque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Chiffres clés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7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risques étudiés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210312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93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Annexe A décidées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9" y="210312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26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de traitement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399" y="210312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3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exclusions justifiées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1 / 42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règles du socle pleinement appliquées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42900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45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partiellement en 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42900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C92A2A"/>
                </a:solidFill>
                <a:latin typeface="Calibri"/>
              </a:rPr>
              <a:t>45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à mettre en œuvre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399" y="3429000"/>
            <a:ext cx="25603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0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 encore pleinement en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Le résultat le plus utile : l'absence de cloisonnement du réseau facilite la plupart des scénarios de risque étudiés. C'est la mesure la plus rentable à traiter en premier.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Cartographie des 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Avant et après traitement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106424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3055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685800" y="21488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Risque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1488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Scénario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488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48839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11064240" cy="5486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633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Concurrent — canal d'exfiltration 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33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9 · Élevé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633472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6 · Moyen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27248"/>
            <a:ext cx="11064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Concurrent — via le centre technique de Casablanca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200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12 · Élevé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20040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92A2A"/>
                </a:solidFill>
                <a:latin typeface="Calibri"/>
              </a:rPr>
              <a:t>9 · Élevé (accepté)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94176"/>
            <a:ext cx="11064240" cy="5486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6732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7673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Rançongiciel déployé par le centre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7673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16 · Élevé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6732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6 · Moyen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61104"/>
            <a:ext cx="11064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342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3342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Rançongiciel par hameçonnage direct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3342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12 · Élevé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34256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Calibri"/>
              </a:rPr>
              <a:t>6 · Moyen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10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R3 reste volontairement à un niveau élevé : le centre technique de Casablanca, en cours de montée en maturité, résiste aux mesures proposées. Acceptation formelle de la direction générale, avec revue au 31 mars 2027.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Déclaration d'applicabilité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93 mesures de l'Annexe A ISO/IEC 27001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45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Partiellement en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9480F"/>
                </a:solidFill>
                <a:latin typeface="Calibri"/>
              </a:rPr>
              <a:t>45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À mettre en œuvre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595959"/>
                </a:solidFill>
                <a:latin typeface="Calibri"/>
              </a:rPr>
              <a:t>3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Exclues, justifiées et approuvées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Aucune mesure n'est encore pleinement en place : c'est un SMSI à construire, pas déjà mature.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Chaque mesure retenue est reliée à un risque, un écart du socle, ou une exigence légale — c'est calculé à partir des données, pas déclaré à la main.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Les 3 exclusions (infrastructure entièrement cloud, développement non externalisé) sont documentées avec leur justification.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Plan de traitement et budget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26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mesures (13 + 13 ajoutées)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460–1860 k€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enveloppe budgétaire estimée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03120"/>
            <a:ext cx="3474720" cy="1051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4B5"/>
                </a:solidFill>
                <a:latin typeface="Calibri"/>
              </a:rPr>
              <a:t>18 mois</a:t>
            </a:r>
          </a:p>
          <a:p>
            <a:pPr algn="ctr"/>
            <a:r>
              <a:rPr sz="1050">
                <a:solidFill>
                  <a:srgbClr val="595959"/>
                </a:solidFill>
                <a:latin typeface="Calibri"/>
              </a:rPr>
              <a:t>horizon de la feuille de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Trajectoire attendue du risque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Score moyen : 9,6 avant traitement → 6,9 à T0+6 mois → 5,5 à T0+12 mois → 5,3 à la cible (T0+18 mois).</a:t>
            </a:r>
          </a:p>
          <a:p>
            <a:pPr algn="l">
              <a:spcAft>
                <a:spcPts val="1400"/>
              </a:spcAft>
            </a:pPr>
            <a:r>
              <a:rPr sz="1350" b="0" i="0">
                <a:solidFill>
                  <a:srgbClr val="1F3864"/>
                </a:solidFill>
                <a:latin typeface="Calibri"/>
              </a:rPr>
              <a:t>Risques au niveau élevé : 5 aujourd'hui → 3 à T0+6 mois → 1 à T0+12 mois → 1 à la cible (R3, accepté).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92A2A"/>
                </a:solidFill>
                <a:latin typeface="Calibri"/>
              </a:rPr>
              <a:t>Mesure prioritaire : N01, cloisonnement du réseau.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Limites à annoncer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Ce que cette étude n'est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F3864"/>
                </a:solidFill>
                <a:latin typeface="Calibri"/>
              </a:rPr>
              <a:t>•  CelerPay est une entreprise entièrement fictive, inventée pour ce projet : aucun lien avec une organisation réelle.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F3864"/>
                </a:solidFill>
                <a:latin typeface="Calibri"/>
              </a:rPr>
              <a:t>•  C'est fait seul, sans les ateliers avec les parties prenantes d'une vraie organisation.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F3864"/>
                </a:solidFill>
                <a:latin typeface="Calibri"/>
              </a:rPr>
              <a:t>•  L'état du socle est une hypothèse cohérente avec une jeune entreprise en forte croissance — pas un audit constaté.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F3864"/>
                </a:solidFill>
                <a:latin typeface="Calibri"/>
              </a:rPr>
              <a:t>•  Ce n'est ni un audit, ni une certification, ni un travail relu par des professionnels. Un seul cycle EBIOS 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Décisions demandées à la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1.  Approuver la politique de sécurité, la méthode de risques et le périmètre du SMSI.</a:t>
            </a:r>
          </a:p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2.  Approuver la déclaration d'applicabilité et les 3 exclusions.</a:t>
            </a:r>
          </a:p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3.  Confirmer ou revoir l'acceptation du risque R3 (échéance : 31 mars 2027).</a:t>
            </a:r>
          </a:p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4.  Valider le budget des mesures de priorité 1 et 2.</a:t>
            </a:r>
          </a:p>
          <a:p>
            <a:pPr algn="l">
              <a:spcAft>
                <a:spcPts val="2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5.  Fixer le calendrier des 2 premiers audits internes et désigner l'auditeur indépendant.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